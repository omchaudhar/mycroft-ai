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Enterprises don't have an AI system. They have a portfolio of them. That is the whole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E1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194560"/>
            <a:ext cx="7680960" cy="7680960"/>
          </a:xfrm>
          <a:prstGeom prst="roundRect">
            <a:avLst>
              <a:gd name="adj" fmla="val 5952"/>
            </a:avLst>
          </a:prstGeom>
          <a:solidFill>
            <a:srgbClr val="1E2761">
              <a:alpha val="3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3291840"/>
            <a:ext cx="6949440" cy="6949440"/>
          </a:xfrm>
          <a:prstGeom prst="roundRect">
            <a:avLst>
              <a:gd name="adj" fmla="val 6579"/>
            </a:avLst>
          </a:prstGeom>
          <a:solidFill>
            <a:srgbClr val="2E3D7A">
              <a:alpha val="2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66928" y="1993392"/>
            <a:ext cx="9144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Mycroft.ai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306324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configurable Responsible AI control plane for the enterprise AI portfolio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5727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PROPOSAL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50749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Mycroft.ai</a:t>
            </a:r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9FB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IIT Bombay   ·   Accenture Innovation Challenge 2026, Round 2</a:t>
            </a:r>
            <a:pPr indent="0" marL="0">
              <a:lnSpc>
                <a:spcPts val="2100"/>
              </a:lnSpc>
              <a:buNone/>
            </a:pP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9FB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against Track 1: ControlPlane.ai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37392" y="643737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3737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Mycroft.ai  ·  Business Proposal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457200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E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76809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control plane, three commitments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609344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0E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Enterprises are not deploying one AI system. They are deploying a portfolio of them, and each carries a different risk signature, latency budget and regulatory obligation. A single checker applied uniformly will be too slow for the first, too noisy for the second, and too shallow for the third.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2542032"/>
            <a:ext cx="3553968" cy="2697480"/>
          </a:xfrm>
          <a:prstGeom prst="roundRect">
            <a:avLst>
              <a:gd name="adj" fmla="val 2373"/>
            </a:avLst>
          </a:prstGeom>
          <a:solidFill>
            <a:srgbClr val="F2F5FC"/>
          </a:solidFill>
          <a:ln w="9525">
            <a:solidFill>
              <a:srgbClr val="DDE3F2"/>
            </a:solidFill>
            <a:prstDash val="solid"/>
          </a:ln>
          <a:effectLst>
            <a:outerShdw sx="100000" sy="100000" kx="0" ky="0" algn="bl" rotWithShape="0" blurRad="76200" dist="12700" dir="5400000">
              <a:srgbClr val="8899BB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2798064"/>
            <a:ext cx="566928" cy="5669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2907792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511296"/>
            <a:ext cx="30419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Governance is configuration, not code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206240"/>
            <a:ext cx="30419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Evaluation Contract, merged with a jurisdiction's policy pack, decides which checks run, how sensitive they are, and what happens when they fire.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03776" y="2542032"/>
            <a:ext cx="3553968" cy="2697480"/>
          </a:xfrm>
          <a:prstGeom prst="roundRect">
            <a:avLst>
              <a:gd name="adj" fmla="val 2373"/>
            </a:avLst>
          </a:prstGeom>
          <a:solidFill>
            <a:srgbClr val="F2F5FC"/>
          </a:solidFill>
          <a:ln w="9525">
            <a:solidFill>
              <a:srgbClr val="DDE3F2"/>
            </a:solidFill>
            <a:prstDash val="solid"/>
          </a:ln>
          <a:effectLst>
            <a:outerShdw sx="100000" sy="100000" kx="0" ky="0" algn="bl" rotWithShape="0" blurRad="76200" dist="12700" dir="5400000">
              <a:srgbClr val="8899BB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59808" y="2798064"/>
            <a:ext cx="566928" cy="5669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59808" y="2907792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559808" y="3511296"/>
            <a:ext cx="30419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never silently rewrite model output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4559808" y="4206240"/>
            <a:ext cx="30419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Detect, explain with pinned evidence, then allow, log, route to a human, or block. The enterprise always sees what its model actually said.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040624" y="2542032"/>
            <a:ext cx="3553968" cy="2697480"/>
          </a:xfrm>
          <a:prstGeom prst="roundRect">
            <a:avLst>
              <a:gd name="adj" fmla="val 2373"/>
            </a:avLst>
          </a:prstGeom>
          <a:solidFill>
            <a:srgbClr val="F2F5FC"/>
          </a:solidFill>
          <a:ln w="9525">
            <a:solidFill>
              <a:srgbClr val="DDE3F2"/>
            </a:solidFill>
            <a:prstDash val="solid"/>
          </a:ln>
          <a:effectLst>
            <a:outerShdw sx="100000" sy="100000" kx="0" ky="0" algn="bl" rotWithShape="0" blurRad="76200" dist="12700" dir="5400000">
              <a:srgbClr val="8899BB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96656" y="2798064"/>
            <a:ext cx="566928" cy="5669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96656" y="2907792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296656" y="3511296"/>
            <a:ext cx="30419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number is measured or labelled</a:t>
            </a:r>
            <a:endParaRPr lang="en-US" sz="1550" dirty="0"/>
          </a:p>
        </p:txBody>
      </p:sp>
      <p:sp>
        <p:nvSpPr>
          <p:cNvPr id="21" name="Text 19"/>
          <p:cNvSpPr txBox="1"/>
          <p:nvPr/>
        </p:nvSpPr>
        <p:spPr>
          <a:xfrm>
            <a:off x="8296656" y="4206240"/>
            <a:ext cx="30419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prototype produces its own precision, recall, FP/FN rates, latency and regression result. Assumptions carry their formula and inputs.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66928" y="5394960"/>
            <a:ext cx="11027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2E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working prototype runs the whole loop on 294 simulated traces across all three use cases, with no API key and no network.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37392" y="643737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3737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Mycroft.ai  ·  Business Proposal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457200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E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76809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is the portfolio, not the model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66928" y="1609344"/>
            <a:ext cx="3541776" cy="3200400"/>
          </a:xfrm>
          <a:prstGeom prst="roundRect">
            <a:avLst>
              <a:gd name="adj" fmla="val 2000"/>
            </a:avLst>
          </a:prstGeom>
          <a:solidFill>
            <a:srgbClr val="F2F5FC"/>
          </a:solidFill>
          <a:ln w="9525">
            <a:solidFill>
              <a:srgbClr val="DDE3F2"/>
            </a:solidFill>
            <a:prstDash val="solid"/>
          </a:ln>
          <a:effectLst>
            <a:outerShdw sx="100000" sy="100000" kx="0" ky="0" algn="bl" rotWithShape="0" blurRad="76200" dist="12700" dir="5400000">
              <a:srgbClr val="8899BB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41248" y="1883664"/>
            <a:ext cx="29931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support assistant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2523744"/>
            <a:ext cx="2993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· synchronous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2852928"/>
            <a:ext cx="29931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97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 ms budget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41248" y="3291840"/>
            <a:ext cx="29931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E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wrong answer is a contractual statement to a customer. Blast radius is highest, tolerance for latency lowest.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09872" y="1609344"/>
            <a:ext cx="3541776" cy="3200400"/>
          </a:xfrm>
          <a:prstGeom prst="roundRect">
            <a:avLst>
              <a:gd name="adj" fmla="val 2000"/>
            </a:avLst>
          </a:prstGeom>
          <a:solidFill>
            <a:srgbClr val="F2F5FC"/>
          </a:solidFill>
          <a:ln w="9525">
            <a:solidFill>
              <a:srgbClr val="DDE3F2"/>
            </a:solidFill>
            <a:prstDash val="solid"/>
          </a:ln>
          <a:effectLst>
            <a:outerShdw sx="100000" sy="100000" kx="0" ky="0" algn="bl" rotWithShape="0" blurRad="76200" dist="12700" dir="5400000">
              <a:srgbClr val="8899BB">
                <a:alpha val="1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584192" y="1883664"/>
            <a:ext cx="29931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Internal knowledge assistant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584192" y="2523744"/>
            <a:ext cx="2993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· noisy sources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4584192" y="2852928"/>
            <a:ext cx="29931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97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250 ms budget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584192" y="3291840"/>
            <a:ext cx="29931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E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well-governed and loosely governed data. Alert fatigue is the bigger risk than any single wrong answer.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052816" y="1609344"/>
            <a:ext cx="3541776" cy="3200400"/>
          </a:xfrm>
          <a:prstGeom prst="roundRect">
            <a:avLst>
              <a:gd name="adj" fmla="val 2000"/>
            </a:avLst>
          </a:prstGeom>
          <a:solidFill>
            <a:srgbClr val="EEF2FC"/>
          </a:solidFill>
          <a:ln w="9525">
            <a:solidFill>
              <a:srgbClr val="DDE3F2"/>
            </a:solidFill>
            <a:prstDash val="solid"/>
          </a:ln>
          <a:effectLst>
            <a:outerShdw sx="100000" sy="100000" kx="0" ky="0" algn="bl" rotWithShape="0" blurRad="76200" dist="12700" dir="5400000">
              <a:srgbClr val="8899BB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327136" y="1883664"/>
            <a:ext cx="29931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Decision-support tool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327136" y="2523744"/>
            <a:ext cx="2993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Regulated workflow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8327136" y="2852928"/>
            <a:ext cx="29931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97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400 ms budget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327136" y="3291840"/>
            <a:ext cx="29931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E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output shapes a decision about a person. Over-flagging is the cheaper error, by a wide margin.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566928" y="5010912"/>
            <a:ext cx="11027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checker across all three is too slow for the first, too noisy for the second, and too shallow for the third.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37392" y="643737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3737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Mycroft.ai  ·  Business Proposal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457200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E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CURRENT APPROACHES FALL SHORT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76809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things that make this genuinely hard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66928" y="1609344"/>
            <a:ext cx="5385816" cy="1481328"/>
          </a:xfrm>
          <a:prstGeom prst="roundRect">
            <a:avLst>
              <a:gd name="adj" fmla="val 4321"/>
            </a:avLst>
          </a:prstGeom>
          <a:solidFill>
            <a:srgbClr val="F2F5FC"/>
          </a:solidFill>
          <a:ln w="9525">
            <a:solidFill>
              <a:srgbClr val="DDE3F2"/>
            </a:solidFill>
            <a:prstDash val="solid"/>
          </a:ln>
          <a:effectLst>
            <a:outerShdw sx="100000" sy="100000" kx="0" ky="0" algn="bl" rotWithShape="0" blurRad="76200" dist="12700" dir="5400000">
              <a:srgbClr val="8899BB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41248" y="1920240"/>
            <a:ext cx="310896" cy="310896"/>
          </a:xfrm>
          <a:prstGeom prst="ellipse">
            <a:avLst/>
          </a:prstGeom>
          <a:solidFill>
            <a:srgbClr val="CADC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41248" y="1975104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1883664"/>
            <a:ext cx="4379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risk families overlap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231136"/>
            <a:ext cx="437997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fabricated detail about a named person is a hallucination and a privacy exposure at once. Forcing one category loses the second risk or double-counts the incident.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08776" y="1609344"/>
            <a:ext cx="5385816" cy="1481328"/>
          </a:xfrm>
          <a:prstGeom prst="roundRect">
            <a:avLst>
              <a:gd name="adj" fmla="val 4321"/>
            </a:avLst>
          </a:prstGeom>
          <a:solidFill>
            <a:srgbClr val="F2F5FC"/>
          </a:solidFill>
          <a:ln w="9525">
            <a:solidFill>
              <a:srgbClr val="DDE3F2"/>
            </a:solidFill>
            <a:prstDash val="solid"/>
          </a:ln>
          <a:effectLst>
            <a:outerShdw sx="100000" sy="100000" kx="0" ky="0" algn="bl" rotWithShape="0" blurRad="76200" dist="12700" dir="5400000">
              <a:srgbClr val="8899BB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83096" y="1920240"/>
            <a:ext cx="310896" cy="310896"/>
          </a:xfrm>
          <a:prstGeom prst="ellipse">
            <a:avLst/>
          </a:prstGeom>
          <a:solidFill>
            <a:srgbClr val="CADC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83096" y="1975104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922008" y="1883664"/>
            <a:ext cx="4379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There is no real-time ground truth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922008" y="2231136"/>
            <a:ext cx="437997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knowledge gap that causes a hallucination blocks its verification. Checkers promising to tell you whether a claim is true are promising something they cannot deliver.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3346704"/>
            <a:ext cx="5385816" cy="1481328"/>
          </a:xfrm>
          <a:prstGeom prst="roundRect">
            <a:avLst>
              <a:gd name="adj" fmla="val 4321"/>
            </a:avLst>
          </a:prstGeom>
          <a:solidFill>
            <a:srgbClr val="F2F5FC"/>
          </a:solidFill>
          <a:ln w="9525">
            <a:solidFill>
              <a:srgbClr val="DDE3F2"/>
            </a:solidFill>
            <a:prstDash val="solid"/>
          </a:ln>
          <a:effectLst>
            <a:outerShdw sx="100000" sy="100000" kx="0" ky="0" algn="bl" rotWithShape="0" blurRad="76200" dist="12700" dir="5400000">
              <a:srgbClr val="8899BB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1248" y="3657600"/>
            <a:ext cx="310896" cy="310896"/>
          </a:xfrm>
          <a:prstGeom prst="ellipse">
            <a:avLst/>
          </a:prstGeom>
          <a:solidFill>
            <a:srgbClr val="CADC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41248" y="3712464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621024"/>
            <a:ext cx="4379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threshold cannot serve one company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280160" y="3968496"/>
            <a:ext cx="437997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Over-flagging teaches users to click through warnings; under-flagging creates liability. The trade-off must be tuned per use case, and most tooling makes it invisible.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08776" y="3346704"/>
            <a:ext cx="5385816" cy="1481328"/>
          </a:xfrm>
          <a:prstGeom prst="roundRect">
            <a:avLst>
              <a:gd name="adj" fmla="val 4321"/>
            </a:avLst>
          </a:prstGeom>
          <a:solidFill>
            <a:srgbClr val="F2F5FC"/>
          </a:solidFill>
          <a:ln w="9525">
            <a:solidFill>
              <a:srgbClr val="DDE3F2"/>
            </a:solidFill>
            <a:prstDash val="solid"/>
          </a:ln>
          <a:effectLst>
            <a:outerShdw sx="100000" sy="100000" kx="0" ky="0" algn="bl" rotWithShape="0" blurRad="76200" dist="12700" dir="5400000">
              <a:srgbClr val="8899BB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83096" y="3657600"/>
            <a:ext cx="310896" cy="310896"/>
          </a:xfrm>
          <a:prstGeom prst="ellipse">
            <a:avLst/>
          </a:prstGeom>
          <a:solidFill>
            <a:srgbClr val="CADC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83096" y="3712464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922008" y="3621024"/>
            <a:ext cx="4379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Enterprises cannot see inside the model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922008" y="3968496"/>
            <a:ext cx="437997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foundation model consumed over an API offers logits at best. Any checker has to work at the input/output layer, on prompt, retrieval, tool calls and response.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37392" y="643737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3737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Mycroft.ai  ·  Business Proposal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457200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E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76809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gap actually is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66928" y="1609344"/>
            <a:ext cx="11027664" cy="713232"/>
          </a:xfrm>
          <a:prstGeom prst="roundRect">
            <a:avLst>
              <a:gd name="adj" fmla="val 8974"/>
            </a:avLst>
          </a:prstGeom>
          <a:solidFill>
            <a:srgbClr val="F2F5FC"/>
          </a:solidFill>
          <a:ln w="9525">
            <a:solidFill>
              <a:srgbClr val="DDE3F2"/>
            </a:solidFill>
            <a:prstDash val="solid"/>
          </a:ln>
          <a:effectLst>
            <a:outerShdw sx="100000" sy="100000" kx="0" ky="0" algn="bl" rotWithShape="0" blurRad="76200" dist="12700" dir="5400000">
              <a:srgbClr val="8899BB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41248" y="1728216"/>
            <a:ext cx="3749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Tracing and storage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681728" y="1728216"/>
            <a:ext cx="3931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Langfuse · LangSmith · Phoenix · Datadog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8750808" y="1728216"/>
            <a:ext cx="25694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0E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Commoditised. We read from it.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2432304"/>
            <a:ext cx="11027664" cy="713232"/>
          </a:xfrm>
          <a:prstGeom prst="roundRect">
            <a:avLst>
              <a:gd name="adj" fmla="val 8974"/>
            </a:avLst>
          </a:prstGeom>
          <a:solidFill>
            <a:srgbClr val="F2F5FC"/>
          </a:solidFill>
          <a:ln w="9525">
            <a:solidFill>
              <a:srgbClr val="DDE3F2"/>
            </a:solidFill>
            <a:prstDash val="solid"/>
          </a:ln>
          <a:effectLst>
            <a:outerShdw sx="100000" sy="100000" kx="0" ky="0" algn="bl" rotWithShape="0" blurRad="76200" dist="12700" dir="5400000">
              <a:srgbClr val="8899BB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41248" y="2551176"/>
            <a:ext cx="3749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Guardrails and detection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681728" y="2551176"/>
            <a:ext cx="3931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Guardrails · Azure Content Safety · Lakera · NeMo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8750808" y="2551176"/>
            <a:ext cx="25694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0E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Crowded and increasingly free.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3255264"/>
            <a:ext cx="11027664" cy="713232"/>
          </a:xfrm>
          <a:prstGeom prst="roundRect">
            <a:avLst>
              <a:gd name="adj" fmla="val 8974"/>
            </a:avLst>
          </a:prstGeom>
          <a:solidFill>
            <a:srgbClr val="F2F5FC"/>
          </a:solidFill>
          <a:ln w="9525">
            <a:solidFill>
              <a:srgbClr val="DDE3F2"/>
            </a:solidFill>
            <a:prstDash val="solid"/>
          </a:ln>
          <a:effectLst>
            <a:outerShdw sx="100000" sy="100000" kx="0" ky="0" algn="bl" rotWithShape="0" blurRad="76200" dist="12700" dir="5400000">
              <a:srgbClr val="8899BB">
                <a:alpha val="1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41248" y="3374136"/>
            <a:ext cx="3749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and scoring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681728" y="3374136"/>
            <a:ext cx="3931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Braintrust · DeepEval · RAGAS · Galileo · Patronus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8750808" y="3374136"/>
            <a:ext cx="25694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0E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Crowded. A score, not a diagnosis.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66928" y="4078224"/>
            <a:ext cx="11027664" cy="713232"/>
          </a:xfrm>
          <a:prstGeom prst="roundRect">
            <a:avLst>
              <a:gd name="adj" fmla="val 8974"/>
            </a:avLst>
          </a:prstGeom>
          <a:solidFill>
            <a:srgbClr val="F2F5FC"/>
          </a:solidFill>
          <a:ln w="9525">
            <a:solidFill>
              <a:srgbClr val="DDE3F2"/>
            </a:solidFill>
            <a:prstDash val="solid"/>
          </a:ln>
          <a:effectLst>
            <a:outerShdw sx="100000" sy="100000" kx="0" ky="0" algn="bl" rotWithShape="0" blurRad="76200" dist="12700" dir="5400000">
              <a:srgbClr val="8899BB">
                <a:alpha val="1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841248" y="4197096"/>
            <a:ext cx="3749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Configurable governance across a portfolio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681728" y="4197096"/>
            <a:ext cx="3931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8750808" y="4197096"/>
            <a:ext cx="25694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0E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is per-application, not a versioned artifact.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66928" y="4901184"/>
            <a:ext cx="11027664" cy="713232"/>
          </a:xfrm>
          <a:prstGeom prst="roundRect">
            <a:avLst>
              <a:gd name="adj" fmla="val 8974"/>
            </a:avLst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12700" dir="5400000">
              <a:srgbClr val="8899BB">
                <a:alpha val="18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841248" y="5020056"/>
            <a:ext cx="3749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Defect lifecycle: priced, owned, closed, regression-tested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681728" y="5020056"/>
            <a:ext cx="3931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8750808" y="5020056"/>
            <a:ext cx="25694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where we build.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566928" y="5833872"/>
            <a:ext cx="11027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2E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can detect a PII leak. Almost nobody turns forty leaks into one owned, priced defect, carries the human's decision into a versioned contract, then proves with a regression run that it worked — and says what it cost.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37392" y="643737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3737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Mycroft.ai  ·  Business Proposal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457200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E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AND ARCHITECTURE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76809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lanes, one action, a loop that closes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66928" y="1609344"/>
            <a:ext cx="1874520" cy="475488"/>
          </a:xfrm>
          <a:prstGeom prst="roundRect">
            <a:avLst>
              <a:gd name="adj" fmla="val 11538"/>
            </a:avLst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66928" y="1609344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LANE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2624328" y="1609344"/>
            <a:ext cx="89702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0E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· inline · 100% of traffic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0E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with checksum validation · deny lists · loop and budget breakers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66928" y="2167128"/>
            <a:ext cx="1874520" cy="475488"/>
          </a:xfrm>
          <a:prstGeom prst="roundRect">
            <a:avLst>
              <a:gd name="adj" fmla="val 11538"/>
            </a:avLst>
          </a:prstGeom>
          <a:solidFill>
            <a:srgbClr val="2E3D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6928" y="2167128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LANE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2624328" y="2167128"/>
            <a:ext cx="89702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0E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· asynchronous · never blocks the user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0E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· counterfactual bias screen · explanation policy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66928" y="2724912"/>
            <a:ext cx="1874520" cy="475488"/>
          </a:xfrm>
          <a:prstGeom prst="roundRect">
            <a:avLst>
              <a:gd name="adj" fmla="val 11538"/>
            </a:avLst>
          </a:prstGeom>
          <a:solidFill>
            <a:srgbClr val="CADC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6928" y="2724912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2624328" y="2724912"/>
            <a:ext cx="89702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0E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label recorded, one strictest action taken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66928" y="3282696"/>
            <a:ext cx="1874520" cy="475488"/>
          </a:xfrm>
          <a:prstGeom prst="roundRect">
            <a:avLst>
              <a:gd name="adj" fmla="val 11538"/>
            </a:avLst>
          </a:prstGeom>
          <a:solidFill>
            <a:srgbClr val="CADC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66928" y="3282696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2624328" y="3282696"/>
            <a:ext cx="89702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0E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clustered by failure signature · priced · evidence-pinned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66928" y="3840480"/>
            <a:ext cx="1874520" cy="475488"/>
          </a:xfrm>
          <a:prstGeom prst="roundRect">
            <a:avLst>
              <a:gd name="adj" fmla="val 11538"/>
            </a:avLst>
          </a:prstGeom>
          <a:solidFill>
            <a:srgbClr val="CADC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66928" y="3840480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2624328" y="3840480"/>
            <a:ext cx="89702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0E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reviewer confirms or rejects — nothing moves without this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66928" y="4398264"/>
            <a:ext cx="1874520" cy="475488"/>
          </a:xfrm>
          <a:prstGeom prst="roundRect">
            <a:avLst>
              <a:gd name="adj" fmla="val 11538"/>
            </a:avLst>
          </a:prstGeom>
          <a:solidFill>
            <a:srgbClr val="CADC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66928" y="4398264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2624328" y="4398264"/>
            <a:ext cx="89702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0E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versioned, content-hashed, git-diffable configuration change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" y="4956048"/>
            <a:ext cx="1874520" cy="475488"/>
          </a:xfrm>
          <a:prstGeom prst="roundRect">
            <a:avLst>
              <a:gd name="adj" fmla="val 11538"/>
            </a:avLst>
          </a:prstGeom>
          <a:solidFill>
            <a:srgbClr val="CADC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66928" y="4956048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2624328" y="4956048"/>
            <a:ext cx="89702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0E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the defect's own traces; report benefit AND cost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566928" y="5641848"/>
            <a:ext cx="11027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two lanes.  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E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Blocking a customer-facing response must be cheap, deterministic and defensible. Judging groundedness is none of those. Measured Fast Lane compute is p95 under 0.05 ms against a 100 ms contract budget.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37392" y="643737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3737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Mycroft.ai  ·  Business Proposal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457200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E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76809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Evaluation Contract is the product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66928" y="1609344"/>
            <a:ext cx="5358384" cy="3310128"/>
          </a:xfrm>
          <a:prstGeom prst="roundRect">
            <a:avLst>
              <a:gd name="adj" fmla="val 1934"/>
            </a:avLst>
          </a:prstGeom>
          <a:solidFill>
            <a:srgbClr val="0E1330"/>
          </a:solidFill>
          <a:ln w="9525">
            <a:solidFill>
              <a:srgbClr val="0E1330"/>
            </a:solidFill>
            <a:prstDash val="solid"/>
          </a:ln>
          <a:effectLst>
            <a:outerShdw sx="100000" sy="100000" kx="0" ky="0" algn="bl" rotWithShape="0" blurRad="76200" dist="12700" dir="5400000">
              <a:srgbClr val="8899BB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41248" y="1847088"/>
            <a:ext cx="4809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FA6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contracts/use_cases/decision_support.yaml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2176272"/>
            <a:ext cx="480974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use_case: decision_support</a:t>
            </a:r>
            <a:endParaRPr lang="en-US" sz="10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risk_level: very_high</a:t>
            </a:r>
            <a:endParaRPr lang="en-US" sz="10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latency_budget_ms: 400</a:t>
            </a:r>
            <a:endParaRPr lang="en-US" sz="1050" dirty="0"/>
          </a:p>
          <a:p>
            <a:pPr indent="0" marL="0">
              <a:lnSpc>
                <a:spcPts val="1550"/>
              </a:lnSpc>
              <a:buNone/>
            </a:pPr>
            <a:endParaRPr lang="en-US" sz="10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detectors:</a:t>
            </a:r>
            <a:endParaRPr lang="en-US" sz="10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pii:           { mode: "strict"   }</a:t>
            </a:r>
            <a:endParaRPr lang="en-US" sz="10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hallucination: { mode: "standard" }</a:t>
            </a:r>
            <a:endParaRPr lang="en-US" sz="10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bias:          { mode: "standard" }</a:t>
            </a:r>
            <a:endParaRPr lang="en-US" sz="10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policy:        { mode: "standard" }</a:t>
            </a:r>
            <a:endParaRPr lang="en-US" sz="1050" dirty="0"/>
          </a:p>
          <a:p>
            <a:pPr indent="0" marL="0">
              <a:lnSpc>
                <a:spcPts val="1550"/>
              </a:lnSpc>
              <a:buNone/>
            </a:pPr>
            <a:endParaRPr lang="en-US" sz="10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actions:</a:t>
            </a:r>
            <a:endParaRPr lang="en-US" sz="10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high:   block</a:t>
            </a:r>
            <a:endParaRPr lang="en-US" sz="10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medium: human_review</a:t>
            </a:r>
            <a:endParaRPr lang="en-US" sz="10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low:    human_review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236208" y="1609344"/>
            <a:ext cx="5358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ratchet, not an override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236208" y="1920240"/>
            <a:ext cx="53583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policy pack may raise a detector's strictness or an action's severity — never lower it. A team cannot configure its way out of a regulatory floor.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236208" y="2706624"/>
            <a:ext cx="5358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Content-hashed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236208" y="3017520"/>
            <a:ext cx="53583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customer_support@r2-5ae442dedc. Two contracts that behave identically share a version; any edit produces a new one, and every audit record names it.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236208" y="3803904"/>
            <a:ext cx="5358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jurisdiction decides what is high risk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236208" y="4114800"/>
            <a:ext cx="53583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team. The EU pack names its own high-risk use cases, so a support chatbot never inherits Annex III obligations by accident.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5120640"/>
            <a:ext cx="11027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Regulatory requirements are policy configuration, not application logic.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37392" y="643737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3737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Mycroft.ai  ·  Business Proposal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457200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E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76809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platform, configured three ways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09344"/>
          <a:ext cx="11027664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971800"/>
                <a:gridCol w="2971800"/>
                <a:gridCol w="2980944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A66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support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A66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Internal knowledge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A66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support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1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posture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1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 budget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 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 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1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→ strict in EU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→ strict in EU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1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Hallucination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permissive — deliberately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→ strict in EU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1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 — no decisions on people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→ strict in EU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1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→ strict in 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1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severity →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 review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66928" y="4809744"/>
            <a:ext cx="11027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permissive setting on the internal assistant is a deliberate governance choice, not an oversight. 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E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blast radius is an employee who can sanity-check the answer, and alert fatigue is the larger risk. The prototype measures exactly what that choice costs.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37392" y="643737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3737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Mycroft.ai  ·  Business Proposal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457200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E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GOVERNANCE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76809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264 traces, three policy packs, zero code changes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883664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E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350008" y="1883664"/>
            <a:ext cx="2724150" cy="566928"/>
          </a:xfrm>
          <a:prstGeom prst="rect">
            <a:avLst/>
          </a:prstGeom>
          <a:solidFill>
            <a:srgbClr val="C9D6E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350008" y="1883664"/>
            <a:ext cx="272415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121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74158" y="1883664"/>
            <a:ext cx="270164" cy="566928"/>
          </a:xfrm>
          <a:prstGeom prst="rect">
            <a:avLst/>
          </a:prstGeom>
          <a:solidFill>
            <a:srgbClr val="8FA6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44322" y="1883664"/>
            <a:ext cx="945573" cy="566928"/>
          </a:xfrm>
          <a:prstGeom prst="rect">
            <a:avLst/>
          </a:prstGeom>
          <a:solidFill>
            <a:srgbClr val="C97B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344322" y="1883664"/>
            <a:ext cx="94557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89894" y="1883664"/>
            <a:ext cx="2003714" cy="566928"/>
          </a:xfrm>
          <a:prstGeom prst="rect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89894" y="1883664"/>
            <a:ext cx="20037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283464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European Union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350008" y="2834640"/>
            <a:ext cx="2724150" cy="566928"/>
          </a:xfrm>
          <a:prstGeom prst="rect">
            <a:avLst/>
          </a:prstGeom>
          <a:solidFill>
            <a:srgbClr val="C9D6E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350008" y="2834640"/>
            <a:ext cx="272415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121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074158" y="2834640"/>
            <a:ext cx="157595" cy="566928"/>
          </a:xfrm>
          <a:prstGeom prst="rect">
            <a:avLst/>
          </a:prstGeom>
          <a:solidFill>
            <a:srgbClr val="8FA6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231753" y="2834640"/>
            <a:ext cx="540327" cy="566928"/>
          </a:xfrm>
          <a:prstGeom prst="rect">
            <a:avLst/>
          </a:prstGeom>
          <a:solidFill>
            <a:srgbClr val="C97B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231753" y="2834640"/>
            <a:ext cx="54032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772081" y="2834640"/>
            <a:ext cx="2521527" cy="566928"/>
          </a:xfrm>
          <a:prstGeom prst="rect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772081" y="2834640"/>
            <a:ext cx="252152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566928" y="3785616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E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States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350008" y="3785616"/>
            <a:ext cx="2724150" cy="566928"/>
          </a:xfrm>
          <a:prstGeom prst="rect">
            <a:avLst/>
          </a:prstGeom>
          <a:solidFill>
            <a:srgbClr val="C9D6E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350008" y="3785616"/>
            <a:ext cx="272415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121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074158" y="3785616"/>
            <a:ext cx="270164" cy="566928"/>
          </a:xfrm>
          <a:prstGeom prst="rect">
            <a:avLst/>
          </a:prstGeom>
          <a:solidFill>
            <a:srgbClr val="8FA6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44322" y="3785616"/>
            <a:ext cx="945573" cy="566928"/>
          </a:xfrm>
          <a:prstGeom prst="rect">
            <a:avLst/>
          </a:prstGeom>
          <a:solidFill>
            <a:srgbClr val="C97B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344322" y="3785616"/>
            <a:ext cx="94557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289894" y="3785616"/>
            <a:ext cx="2003714" cy="566928"/>
          </a:xfrm>
          <a:prstGeom prst="rect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289894" y="3785616"/>
            <a:ext cx="20037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2350008" y="4837176"/>
            <a:ext cx="182880" cy="182880"/>
          </a:xfrm>
          <a:prstGeom prst="rect">
            <a:avLst/>
          </a:prstGeom>
          <a:solidFill>
            <a:srgbClr val="C9D6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606040" y="47914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886200" y="4837176"/>
            <a:ext cx="182880" cy="182880"/>
          </a:xfrm>
          <a:prstGeom prst="rect">
            <a:avLst/>
          </a:prstGeom>
          <a:solidFill>
            <a:srgbClr val="8FA6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142232" y="47914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22392" y="4837176"/>
            <a:ext cx="182880" cy="182880"/>
          </a:xfrm>
          <a:prstGeom prst="rect">
            <a:avLst/>
          </a:prstGeom>
          <a:solidFill>
            <a:srgbClr val="C97B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678424" y="47914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958584" y="4837176"/>
            <a:ext cx="182880" cy="182880"/>
          </a:xfrm>
          <a:prstGeom prst="rect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214616" y="47914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567928" y="1609344"/>
            <a:ext cx="3026664" cy="2670048"/>
          </a:xfrm>
          <a:prstGeom prst="roundRect">
            <a:avLst>
              <a:gd name="adj" fmla="val 2397"/>
            </a:avLst>
          </a:prstGeom>
          <a:solidFill>
            <a:srgbClr val="F2F5FC"/>
          </a:solidFill>
          <a:ln w="9525">
            <a:solidFill>
              <a:srgbClr val="DDE3F2"/>
            </a:solidFill>
            <a:prstDash val="solid"/>
          </a:ln>
          <a:effectLst>
            <a:outerShdw sx="100000" sy="100000" kx="0" ky="0" algn="bl" rotWithShape="0" blurRad="76200" dist="12700" dir="5400000">
              <a:srgbClr val="8899BB">
                <a:alpha val="18000"/>
              </a:srgbClr>
            </a:outerShdw>
          </a:effectLst>
        </p:spPr>
      </p:sp>
      <p:sp>
        <p:nvSpPr>
          <p:cNvPr id="39" name="Text 37"/>
          <p:cNvSpPr txBox="1"/>
          <p:nvPr/>
        </p:nvSpPr>
        <p:spPr>
          <a:xfrm>
            <a:off x="8823960" y="182880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changed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8823960" y="2212848"/>
            <a:ext cx="2514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0E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raises PII to strict everywhere</a:t>
            </a:r>
            <a:endParaRPr lang="en-US" sz="115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0E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High-severity moves from human review to block, citing Article 22</a:t>
            </a:r>
            <a:endParaRPr lang="en-US" sz="115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0E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bias finding is forced to human oversight</a:t>
            </a:r>
            <a:endParaRPr lang="en-US" sz="1150" dirty="0"/>
          </a:p>
        </p:txBody>
      </p:sp>
      <p:sp>
        <p:nvSpPr>
          <p:cNvPr id="41" name="Text 39"/>
          <p:cNvSpPr txBox="1"/>
          <p:nvPr/>
        </p:nvSpPr>
        <p:spPr>
          <a:xfrm>
            <a:off x="8567928" y="4535424"/>
            <a:ext cx="3026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97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+23 blocks</a:t>
            </a:r>
            <a:endParaRPr lang="en-US" sz="2600" dirty="0"/>
          </a:p>
        </p:txBody>
      </p:sp>
      <p:sp>
        <p:nvSpPr>
          <p:cNvPr id="42" name="Text 40"/>
          <p:cNvSpPr txBox="1"/>
          <p:nvPr/>
        </p:nvSpPr>
        <p:spPr>
          <a:xfrm>
            <a:off x="8567928" y="5175504"/>
            <a:ext cx="3026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EU, on identical traces and identical code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37392" y="643737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3737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Mycroft.ai  ·  Business Proposal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457200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E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EVIDENCE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76809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Measured — including where we lose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609344"/>
            <a:ext cx="5358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80" kern="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corpus · 264 traces</a:t>
            </a:r>
            <a:endParaRPr lang="en-US" sz="11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938528"/>
          <a:ext cx="5358384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691640"/>
                <a:gridCol w="169164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A66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family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A66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A66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Hallucination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Behaviour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6236208" y="1609344"/>
            <a:ext cx="5358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80" kern="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Hand-written adversarial holdout · 30 traces</a:t>
            </a:r>
            <a:endParaRPr lang="en-US" sz="115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36208" y="1938528"/>
          <a:ext cx="5358384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691640"/>
                <a:gridCol w="169164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A66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family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A66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A66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Hallucination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Behaviour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566928" y="4169664"/>
            <a:ext cx="11027664" cy="1243584"/>
          </a:xfrm>
          <a:prstGeom prst="roundRect">
            <a:avLst>
              <a:gd name="adj" fmla="val 5147"/>
            </a:avLst>
          </a:prstGeom>
          <a:solidFill>
            <a:srgbClr val="FDF6EC"/>
          </a:solidFill>
          <a:ln w="9525">
            <a:solidFill>
              <a:srgbClr val="F0DFC4"/>
            </a:solidFill>
            <a:prstDash val="solid"/>
          </a:ln>
          <a:effectLst>
            <a:outerShdw sx="100000" sy="100000" kx="0" ky="0" algn="bl" rotWithShape="0" blurRad="76200" dist="12700" dir="5400000">
              <a:srgbClr val="8899BB">
                <a:alpha val="18000"/>
              </a:srgbClr>
            </a:outerShdw>
          </a:effectLst>
        </p:spPr>
      </p:sp>
      <p:sp>
        <p:nvSpPr>
          <p:cNvPr id="11" name="Text 7"/>
          <p:cNvSpPr txBox="1"/>
          <p:nvPr/>
        </p:nvSpPr>
        <p:spPr>
          <a:xfrm>
            <a:off x="877824" y="4352544"/>
            <a:ext cx="10405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C97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holdout was written by hand after the detectors, to test the risk rather than the templates.</a:t>
            </a:r>
            <a:endParaRPr lang="en-US" sz="1450" dirty="0"/>
          </a:p>
        </p:txBody>
      </p:sp>
      <p:sp>
        <p:nvSpPr>
          <p:cNvPr id="12" name="Text 8"/>
          <p:cNvSpPr txBox="1"/>
          <p:nvPr/>
        </p:nvSpPr>
        <p:spPr>
          <a:xfrm>
            <a:off x="877824" y="4681728"/>
            <a:ext cx="104058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E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recall drops to 0.75 there. The gap is one specific class — open-ended fabrication with no figure to contradict, like an invented loyalty tier. Our offline judge is built around figures, which is exactly what the optional LLM-judge adapter is for. We would rather show the hole than have it found.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566928" y="5541264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Lane p95 under 0.05 ms of detector compute  ·  100 ms contract budget  ·  reproducible with no API key and no network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37392" y="643737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3737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Mycroft.ai  ·  Business Proposal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457200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E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POSITIVES VS FALSE NEGATIVES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76809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do not solve the trade-off. We price it.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48132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detector, customer support: what each confidence threshold buys, and what it costs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49808" y="4809744"/>
            <a:ext cx="7406640" cy="0"/>
          </a:xfrm>
          <a:prstGeom prst="line">
            <a:avLst/>
          </a:prstGeom>
          <a:noFill/>
          <a:ln w="12700">
            <a:solidFill>
              <a:srgbClr val="C4CCE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2608" y="469087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49808" y="3566160"/>
            <a:ext cx="7406640" cy="0"/>
          </a:xfrm>
          <a:prstGeom prst="line">
            <a:avLst/>
          </a:prstGeom>
          <a:noFill/>
          <a:ln w="9525">
            <a:solidFill>
              <a:srgbClr val="EDF1F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92608" y="3447288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49808" y="2322576"/>
            <a:ext cx="7406640" cy="0"/>
          </a:xfrm>
          <a:prstGeom prst="line">
            <a:avLst/>
          </a:prstGeom>
          <a:noFill/>
          <a:ln w="9525">
            <a:solidFill>
              <a:srgbClr val="EDF1F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92608" y="2203704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280160" y="2514088"/>
            <a:ext cx="359229" cy="2295656"/>
          </a:xfrm>
          <a:prstGeom prst="rect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225296" y="2568952"/>
            <a:ext cx="45066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.92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675965" y="2322576"/>
            <a:ext cx="359229" cy="2487168"/>
          </a:xfrm>
          <a:prstGeom prst="rect">
            <a:avLst/>
          </a:prstGeom>
          <a:solidFill>
            <a:srgbClr val="C97B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621101" y="2377440"/>
            <a:ext cx="45066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1207008" y="4864608"/>
            <a:ext cx="99277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0.35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272937" y="2514088"/>
            <a:ext cx="359229" cy="2295656"/>
          </a:xfrm>
          <a:prstGeom prst="rect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218073" y="2568952"/>
            <a:ext cx="45066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.92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668742" y="2322576"/>
            <a:ext cx="359229" cy="2487168"/>
          </a:xfrm>
          <a:prstGeom prst="rect">
            <a:avLst/>
          </a:prstGeom>
          <a:solidFill>
            <a:srgbClr val="C97B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613878" y="2377440"/>
            <a:ext cx="45066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2199785" y="4864608"/>
            <a:ext cx="99277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0.45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65714" y="2514088"/>
            <a:ext cx="359229" cy="2295656"/>
          </a:xfrm>
          <a:prstGeom prst="rect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210850" y="2568952"/>
            <a:ext cx="45066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.92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61519" y="2322576"/>
            <a:ext cx="359229" cy="2487168"/>
          </a:xfrm>
          <a:prstGeom prst="rect">
            <a:avLst/>
          </a:prstGeom>
          <a:solidFill>
            <a:srgbClr val="C97B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606655" y="2377440"/>
            <a:ext cx="45066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3192562" y="4864608"/>
            <a:ext cx="99277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0.55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258491" y="2514088"/>
            <a:ext cx="359229" cy="2295656"/>
          </a:xfrm>
          <a:prstGeom prst="rect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203627" y="2568952"/>
            <a:ext cx="45066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.92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54296" y="2322576"/>
            <a:ext cx="359229" cy="2487168"/>
          </a:xfrm>
          <a:prstGeom prst="rect">
            <a:avLst/>
          </a:prstGeom>
          <a:solidFill>
            <a:srgbClr val="C97B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599432" y="2377440"/>
            <a:ext cx="45066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4185339" y="4864608"/>
            <a:ext cx="99277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251269" y="2322576"/>
            <a:ext cx="359229" cy="2487168"/>
          </a:xfrm>
          <a:prstGeom prst="rect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196405" y="2377440"/>
            <a:ext cx="45066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647073" y="4292413"/>
            <a:ext cx="359229" cy="517331"/>
          </a:xfrm>
          <a:prstGeom prst="rect">
            <a:avLst/>
          </a:prstGeom>
          <a:solidFill>
            <a:srgbClr val="C97B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592209" y="4347277"/>
            <a:ext cx="45066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.21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5178117" y="4864608"/>
            <a:ext cx="99277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97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244046" y="2322576"/>
            <a:ext cx="359229" cy="2487168"/>
          </a:xfrm>
          <a:prstGeom prst="rect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189182" y="2377440"/>
            <a:ext cx="45066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639850" y="4292413"/>
            <a:ext cx="359229" cy="517331"/>
          </a:xfrm>
          <a:prstGeom prst="rect">
            <a:avLst/>
          </a:prstGeom>
          <a:solidFill>
            <a:srgbClr val="C97B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584986" y="4347277"/>
            <a:ext cx="45066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.21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6170894" y="4864608"/>
            <a:ext cx="99277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7236823" y="2322576"/>
            <a:ext cx="359229" cy="2487168"/>
          </a:xfrm>
          <a:prstGeom prst="rect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181959" y="2377440"/>
            <a:ext cx="45066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7632627" y="4292413"/>
            <a:ext cx="359229" cy="517331"/>
          </a:xfrm>
          <a:prstGeom prst="rect">
            <a:avLst/>
          </a:prstGeom>
          <a:solidFill>
            <a:srgbClr val="C97B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577763" y="4347277"/>
            <a:ext cx="45066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.21</a:t>
            </a:r>
            <a:endParaRPr lang="en-US" sz="950" dirty="0"/>
          </a:p>
        </p:txBody>
      </p:sp>
      <p:sp>
        <p:nvSpPr>
          <p:cNvPr id="47" name="Text 45"/>
          <p:cNvSpPr txBox="1"/>
          <p:nvPr/>
        </p:nvSpPr>
        <p:spPr>
          <a:xfrm>
            <a:off x="7163671" y="4864608"/>
            <a:ext cx="99277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</a:t>
            </a:r>
            <a:endParaRPr lang="en-US" sz="1050" dirty="0"/>
          </a:p>
        </p:txBody>
      </p:sp>
      <p:sp>
        <p:nvSpPr>
          <p:cNvPr id="48" name="Text 46"/>
          <p:cNvSpPr txBox="1"/>
          <p:nvPr/>
        </p:nvSpPr>
        <p:spPr>
          <a:xfrm>
            <a:off x="1207008" y="512064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threshold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5413248" y="5138928"/>
            <a:ext cx="182880" cy="182880"/>
          </a:xfrm>
          <a:prstGeom prst="rect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5669280" y="50932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784848" y="5138928"/>
            <a:ext cx="182880" cy="182880"/>
          </a:xfrm>
          <a:prstGeom prst="rect">
            <a:avLst/>
          </a:prstGeom>
          <a:solidFill>
            <a:srgbClr val="C97B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7040880" y="50932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</p:txBody>
      </p:sp>
      <p:sp>
        <p:nvSpPr>
          <p:cNvPr id="53" name="Text 51"/>
          <p:cNvSpPr txBox="1"/>
          <p:nvPr/>
        </p:nvSpPr>
        <p:spPr>
          <a:xfrm>
            <a:off x="8522208" y="2103120"/>
            <a:ext cx="30723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0E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the threshold past 0.65 and precision reaches 1.000 — while recall collapses from 1.000 to 0.208. Four in five real leaks walk past.</a:t>
            </a:r>
            <a:endParaRPr lang="en-US" sz="1300" dirty="0"/>
          </a:p>
        </p:txBody>
      </p:sp>
      <p:sp>
        <p:nvSpPr>
          <p:cNvPr id="54" name="Text 52"/>
          <p:cNvSpPr txBox="1"/>
          <p:nvPr/>
        </p:nvSpPr>
        <p:spPr>
          <a:xfrm>
            <a:off x="8522208" y="3163824"/>
            <a:ext cx="30723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0E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not a bug to fix. It is the decision the contract exists to record — and a governance owner should see its price before signing, not after an incident.</a:t>
            </a:r>
            <a:endParaRPr lang="en-US" sz="1300" dirty="0"/>
          </a:p>
        </p:txBody>
      </p:sp>
      <p:sp>
        <p:nvSpPr>
          <p:cNvPr id="55" name="Text 53"/>
          <p:cNvSpPr txBox="1"/>
          <p:nvPr/>
        </p:nvSpPr>
        <p:spPr>
          <a:xfrm>
            <a:off x="8522208" y="4334256"/>
            <a:ext cx="30723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C97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1.000 → 0.208</a:t>
            </a:r>
            <a:endParaRPr lang="en-US" sz="2400" dirty="0"/>
          </a:p>
        </p:txBody>
      </p:sp>
      <p:sp>
        <p:nvSpPr>
          <p:cNvPr id="56" name="Text 54"/>
          <p:cNvSpPr txBox="1"/>
          <p:nvPr/>
        </p:nvSpPr>
        <p:spPr>
          <a:xfrm>
            <a:off x="8522208" y="4974336"/>
            <a:ext cx="30723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surrendered to buy perfect precision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37392" y="643737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3737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Mycroft.ai  ·  Business Proposal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457200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E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LIFECYCLE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76809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Findings become a defect that can be closed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66928" y="1609344"/>
            <a:ext cx="11027664" cy="1481328"/>
          </a:xfrm>
          <a:prstGeom prst="roundRect">
            <a:avLst>
              <a:gd name="adj" fmla="val 4321"/>
            </a:avLst>
          </a:prstGeom>
          <a:solidFill>
            <a:srgbClr val="F2F5FC"/>
          </a:solidFill>
          <a:ln w="9525">
            <a:solidFill>
              <a:srgbClr val="DDE3F2"/>
            </a:solidFill>
            <a:prstDash val="solid"/>
          </a:ln>
          <a:effectLst>
            <a:outerShdw sx="100000" sy="100000" kx="0" ky="0" algn="bl" rotWithShape="0" blurRad="76200" dist="12700" dir="5400000">
              <a:srgbClr val="8899BB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77824" y="18288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97B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DEF-EA14BE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035808" y="1792224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Response restates a governed figure incorrectly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3035808" y="2212848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the system prompt does not require the answer to quote the retrieved policy. 16 occurrences in 114 customer-support traces.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9345168" y="1883664"/>
            <a:ext cx="19385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₹3.55L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9345168" y="2523744"/>
            <a:ext cx="1938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cost per month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3310128"/>
            <a:ext cx="11027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E3D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rate 16/114 = 0.1404  ×  12,000 interactions/week  ×  4.33 weeks  =  7,293 occurrences/month  ×  (₹14 rework + 0.07 × ₹95 handoff + ₹28 churn exposure)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566928" y="3840480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input is published, and printed beside the figure. Disagree with the ₹95 handoff cost and one line in the contract changes the number.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" y="4242816"/>
            <a:ext cx="1716024" cy="566928"/>
          </a:xfrm>
          <a:prstGeom prst="roundRect">
            <a:avLst>
              <a:gd name="adj" fmla="val 9677"/>
            </a:avLst>
          </a:prstGeom>
          <a:solidFill>
            <a:srgbClr val="F2F5FC"/>
          </a:solidFill>
          <a:ln w="9525">
            <a:solidFill>
              <a:srgbClr val="DDE3F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66928" y="4242816"/>
            <a:ext cx="1716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429256" y="4242816"/>
            <a:ext cx="1716024" cy="566928"/>
          </a:xfrm>
          <a:prstGeom prst="roundRect">
            <a:avLst>
              <a:gd name="adj" fmla="val 9677"/>
            </a:avLst>
          </a:prstGeom>
          <a:solidFill>
            <a:srgbClr val="F2F5FC"/>
          </a:solidFill>
          <a:ln w="9525">
            <a:solidFill>
              <a:srgbClr val="DDE3F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429256" y="4242816"/>
            <a:ext cx="1716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+ price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291584" y="4242816"/>
            <a:ext cx="1716024" cy="566928"/>
          </a:xfrm>
          <a:prstGeom prst="roundRect">
            <a:avLst>
              <a:gd name="adj" fmla="val 9677"/>
            </a:avLst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291584" y="4242816"/>
            <a:ext cx="1716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confirms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53912" y="4242816"/>
            <a:ext cx="1716024" cy="566928"/>
          </a:xfrm>
          <a:prstGeom prst="roundRect">
            <a:avLst>
              <a:gd name="adj" fmla="val 9677"/>
            </a:avLst>
          </a:prstGeom>
          <a:solidFill>
            <a:srgbClr val="F2F5FC"/>
          </a:solidFill>
          <a:ln w="9525">
            <a:solidFill>
              <a:srgbClr val="DDE3F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153912" y="4242816"/>
            <a:ext cx="1716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v2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016240" y="4242816"/>
            <a:ext cx="1716024" cy="566928"/>
          </a:xfrm>
          <a:prstGeom prst="roundRect">
            <a:avLst>
              <a:gd name="adj" fmla="val 9677"/>
            </a:avLst>
          </a:prstGeom>
          <a:solidFill>
            <a:srgbClr val="F2F5FC"/>
          </a:solidFill>
          <a:ln w="9525">
            <a:solidFill>
              <a:srgbClr val="DDE3F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016240" y="4242816"/>
            <a:ext cx="1716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878568" y="4242816"/>
            <a:ext cx="1716024" cy="566928"/>
          </a:xfrm>
          <a:prstGeom prst="roundRect">
            <a:avLst>
              <a:gd name="adj" fmla="val 9677"/>
            </a:avLst>
          </a:prstGeom>
          <a:solidFill>
            <a:srgbClr val="F2F5FC"/>
          </a:solidFill>
          <a:ln w="9525">
            <a:solidFill>
              <a:srgbClr val="DDE3F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878568" y="4242816"/>
            <a:ext cx="1716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66928" y="4956048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E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changes without the human step. The contract change is versioned, and the regression set is the defect's own traces — so the test cannot drift away from the failure.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37392" y="643737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3737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Mycroft.ai  ·  Business Proposal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457200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E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OUTCOME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76809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loop closes — and we report the bill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66928" y="1609344"/>
            <a:ext cx="3529584" cy="1920240"/>
          </a:xfrm>
          <a:prstGeom prst="roundRect">
            <a:avLst>
              <a:gd name="adj" fmla="val 3333"/>
            </a:avLst>
          </a:prstGeom>
          <a:solidFill>
            <a:srgbClr val="F2F5FC"/>
          </a:solidFill>
          <a:ln w="9525">
            <a:solidFill>
              <a:srgbClr val="DDE3F2"/>
            </a:solidFill>
            <a:prstDash val="solid"/>
          </a:ln>
          <a:effectLst>
            <a:outerShdw sx="100000" sy="100000" kx="0" ky="0" algn="bl" rotWithShape="0" blurRad="76200" dist="12700" dir="5400000">
              <a:srgbClr val="8899BB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41248" y="1865376"/>
            <a:ext cx="29809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F7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→ 3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2523744"/>
            <a:ext cx="2980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 reaching the user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2871216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−50% on a 30-trace regression set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15968" y="1609344"/>
            <a:ext cx="3529584" cy="1920240"/>
          </a:xfrm>
          <a:prstGeom prst="roundRect">
            <a:avLst>
              <a:gd name="adj" fmla="val 3333"/>
            </a:avLst>
          </a:prstGeom>
          <a:solidFill>
            <a:srgbClr val="F2F5FC"/>
          </a:solidFill>
          <a:ln w="9525">
            <a:solidFill>
              <a:srgbClr val="DDE3F2"/>
            </a:solidFill>
            <a:prstDash val="solid"/>
          </a:ln>
          <a:effectLst>
            <a:outerShdw sx="100000" sy="100000" kx="0" ky="0" algn="bl" rotWithShape="0" blurRad="76200" dist="12700" dir="5400000">
              <a:srgbClr val="8899BB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590288" y="1865376"/>
            <a:ext cx="29809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C97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→ 13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4590288" y="2523744"/>
            <a:ext cx="2980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false positives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4590288" y="2871216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+11 across 114 interactions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65008" y="1609344"/>
            <a:ext cx="3529584" cy="1920240"/>
          </a:xfrm>
          <a:prstGeom prst="roundRect">
            <a:avLst>
              <a:gd name="adj" fmla="val 3333"/>
            </a:avLst>
          </a:prstGeom>
          <a:solidFill>
            <a:srgbClr val="F2F5FC"/>
          </a:solidFill>
          <a:ln w="9525">
            <a:solidFill>
              <a:srgbClr val="DDE3F2"/>
            </a:solidFill>
            <a:prstDash val="solid"/>
          </a:ln>
          <a:effectLst>
            <a:outerShdw sx="100000" sy="100000" kx="0" ky="0" algn="bl" rotWithShape="0" blurRad="76200" dist="12700" dir="5400000">
              <a:srgbClr val="8899BB">
                <a:alpha val="1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339328" y="1865376"/>
            <a:ext cx="29809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C97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 → 64</a:t>
            </a:r>
            <a:endParaRPr lang="en-US" sz="3600" dirty="0"/>
          </a:p>
        </p:txBody>
      </p:sp>
      <p:sp>
        <p:nvSpPr>
          <p:cNvPr id="16" name="Text 14"/>
          <p:cNvSpPr txBox="1"/>
          <p:nvPr/>
        </p:nvSpPr>
        <p:spPr>
          <a:xfrm>
            <a:off x="8339328" y="2523744"/>
            <a:ext cx="2980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interactions needing a human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8339328" y="2871216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 of 114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66928" y="3749040"/>
            <a:ext cx="11027664" cy="1371600"/>
          </a:xfrm>
          <a:prstGeom prst="roundRect">
            <a:avLst>
              <a:gd name="adj" fmla="val 4667"/>
            </a:avLst>
          </a:prstGeom>
          <a:solidFill>
            <a:srgbClr val="0E1330"/>
          </a:solidFill>
          <a:ln w="9525">
            <a:solidFill>
              <a:srgbClr val="0E1330"/>
            </a:solidFill>
            <a:prstDash val="solid"/>
          </a:ln>
          <a:effectLst>
            <a:outerShdw sx="100000" sy="100000" kx="0" ky="0" algn="bl" rotWithShape="0" blurRad="76200" dist="12700" dir="5400000">
              <a:srgbClr val="8899BB">
                <a:alpha val="1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877824" y="3950208"/>
            <a:ext cx="10405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customer_support@r1-b7cc3c4d4f   →   customer_support@r2-5ae442dedc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877824" y="4297680"/>
            <a:ext cx="104058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 is one line: grounding_required becomes true, so the assistant must refuse rather than improvise when the corpus does not cover the question. In Round 1 this slide carried a −94%. It was not measured, so it is gone. This one is, and it comes with its cost.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37392" y="643737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3737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Mycroft.ai  ·  Business Proposal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457200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E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76809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buys, who approves, who uses it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66928" y="1609344"/>
            <a:ext cx="11027664" cy="786384"/>
          </a:xfrm>
          <a:prstGeom prst="roundRect">
            <a:avLst>
              <a:gd name="adj" fmla="val 8140"/>
            </a:avLst>
          </a:prstGeom>
          <a:solidFill>
            <a:srgbClr val="F2F5FC"/>
          </a:solidFill>
          <a:ln w="9525">
            <a:solidFill>
              <a:srgbClr val="DDE3F2"/>
            </a:solidFill>
            <a:prstDash val="solid"/>
          </a:ln>
          <a:effectLst>
            <a:outerShdw sx="100000" sy="100000" kx="0" ky="0" algn="bl" rotWithShape="0" blurRad="76200" dist="12700" dir="5400000">
              <a:srgbClr val="8899BB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41248" y="171907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 of AI / platform engineering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202996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C97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buyer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041648" y="1755648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AI systems in production, no consistent way to govern them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516368" y="1755648"/>
            <a:ext cx="38039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0E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control plane across the portfolio; per-use-case configuration without per-use-case code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66928" y="2523744"/>
            <a:ext cx="11027664" cy="786384"/>
          </a:xfrm>
          <a:prstGeom prst="roundRect">
            <a:avLst>
              <a:gd name="adj" fmla="val 8140"/>
            </a:avLst>
          </a:prstGeom>
          <a:solidFill>
            <a:srgbClr val="F2F5FC"/>
          </a:solidFill>
          <a:ln w="9525">
            <a:solidFill>
              <a:srgbClr val="DDE3F2"/>
            </a:solidFill>
            <a:prstDash val="solid"/>
          </a:ln>
          <a:effectLst>
            <a:outerShdw sx="100000" sy="100000" kx="0" ky="0" algn="bl" rotWithShape="0" blurRad="76200" dist="12700" dir="5400000">
              <a:srgbClr val="8899BB">
                <a:alpha val="1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41248" y="263347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Risk, compliance and the DPO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841248" y="294436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C97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approver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041648" y="2670048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attest to controls they cannot inspect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7516368" y="2670048"/>
            <a:ext cx="38039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0E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contracts citing the specific regulation, a hash-chained audit trail, human approval in the loop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3438144"/>
            <a:ext cx="11027664" cy="786384"/>
          </a:xfrm>
          <a:prstGeom prst="roundRect">
            <a:avLst>
              <a:gd name="adj" fmla="val 8140"/>
            </a:avLst>
          </a:prstGeom>
          <a:solidFill>
            <a:srgbClr val="F2F5FC"/>
          </a:solidFill>
          <a:ln w="9525">
            <a:solidFill>
              <a:srgbClr val="DDE3F2"/>
            </a:solidFill>
            <a:prstDash val="solid"/>
          </a:ln>
          <a:effectLst>
            <a:outerShdw sx="100000" sy="100000" kx="0" ky="0" algn="bl" rotWithShape="0" blurRad="76200" dist="12700" dir="5400000">
              <a:srgbClr val="8899BB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41248" y="354787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engineer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841248" y="385876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C97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user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041648" y="3584448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Told 'the assistant is wrong sometimes' with no reproduction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7516368" y="3584448"/>
            <a:ext cx="38039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0E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defect with a root cause, example traces, evidence spans and a regression set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66928" y="4352544"/>
            <a:ext cx="11027664" cy="786384"/>
          </a:xfrm>
          <a:prstGeom prst="roundRect">
            <a:avLst>
              <a:gd name="adj" fmla="val 8140"/>
            </a:avLst>
          </a:prstGeom>
          <a:solidFill>
            <a:srgbClr val="F2F5FC"/>
          </a:solidFill>
          <a:ln w="9525">
            <a:solidFill>
              <a:srgbClr val="DDE3F2"/>
            </a:solidFill>
            <a:prstDash val="solid"/>
          </a:ln>
          <a:effectLst>
            <a:outerShdw sx="100000" sy="100000" kx="0" ky="0" algn="bl" rotWithShape="0" blurRad="76200" dist="12700" dir="5400000">
              <a:srgbClr val="8899BB">
                <a:alpha val="1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841248" y="446227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Internal and external audit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841248" y="477316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C97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041648" y="4498848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and a policy document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7516368" y="4498848"/>
            <a:ext cx="38039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0E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chain of records that cannot be edited after the fact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566928" y="5340096"/>
            <a:ext cx="11027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2E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focus: Indian financial services and regulated SaaS — DPDP obligations today, EU AI Act exposure by August 2026, and several AI use cases already live.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37392" y="643737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3737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Mycroft.ai  ·  Business Proposal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457200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E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 AND ROADMAP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76809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Land read-only, then earn the inline path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66928" y="1609344"/>
            <a:ext cx="2633472" cy="2651760"/>
          </a:xfrm>
          <a:prstGeom prst="roundRect">
            <a:avLst>
              <a:gd name="adj" fmla="val 2431"/>
            </a:avLst>
          </a:prstGeom>
          <a:solidFill>
            <a:srgbClr val="EEF2FC"/>
          </a:solidFill>
          <a:ln w="9525">
            <a:solidFill>
              <a:srgbClr val="DDE3F2"/>
            </a:solidFill>
            <a:prstDash val="solid"/>
          </a:ln>
          <a:effectLst>
            <a:outerShdw sx="100000" sy="100000" kx="0" ky="0" algn="bl" rotWithShape="0" blurRad="76200" dist="12700" dir="5400000">
              <a:srgbClr val="8899BB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22960" y="1847088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C97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121408"/>
            <a:ext cx="2121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 months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432304"/>
            <a:ext cx="212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Read-only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999232"/>
            <a:ext cx="212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0E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from the tracing layer they already run. Slow Lane only, nothing inline, nothing blocked. First priced defect register.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364992" y="1609344"/>
            <a:ext cx="2633472" cy="2651760"/>
          </a:xfrm>
          <a:prstGeom prst="roundRect">
            <a:avLst>
              <a:gd name="adj" fmla="val 2431"/>
            </a:avLst>
          </a:prstGeom>
          <a:solidFill>
            <a:srgbClr val="F2F5FC"/>
          </a:solidFill>
          <a:ln w="9525">
            <a:solidFill>
              <a:srgbClr val="DDE3F2"/>
            </a:solidFill>
            <a:prstDash val="solid"/>
          </a:ln>
          <a:effectLst>
            <a:outerShdw sx="100000" sy="100000" kx="0" ky="0" algn="bl" rotWithShape="0" blurRad="76200" dist="12700" dir="5400000">
              <a:srgbClr val="8899BB">
                <a:alpha val="1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3621024" y="1847088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C97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621024" y="2121408"/>
            <a:ext cx="2121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3–6 months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621024" y="2432304"/>
            <a:ext cx="212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Contracts + Fast Lane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621024" y="2999232"/>
            <a:ext cx="212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0E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contracts with their risk team. Deterministic Fast Lane inline behind a kill switch. First two policy packs.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63056" y="1609344"/>
            <a:ext cx="2633472" cy="2651760"/>
          </a:xfrm>
          <a:prstGeom prst="roundRect">
            <a:avLst>
              <a:gd name="adj" fmla="val 2431"/>
            </a:avLst>
          </a:prstGeom>
          <a:solidFill>
            <a:srgbClr val="F2F5FC"/>
          </a:solidFill>
          <a:ln w="9525">
            <a:solidFill>
              <a:srgbClr val="DDE3F2"/>
            </a:solidFill>
            <a:prstDash val="solid"/>
          </a:ln>
          <a:effectLst>
            <a:outerShdw sx="100000" sy="100000" kx="0" ky="0" algn="bl" rotWithShape="0" blurRad="76200" dist="12700" dir="5400000">
              <a:srgbClr val="8899BB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419088" y="1847088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C97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419088" y="2121408"/>
            <a:ext cx="2121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6–12 months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419088" y="2432304"/>
            <a:ext cx="212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 the loop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419088" y="2999232"/>
            <a:ext cx="212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0E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resolution queue, contracts in their own git, automatic regression sets, a CI gate on their deploy pipeline.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961120" y="1609344"/>
            <a:ext cx="2633472" cy="2651760"/>
          </a:xfrm>
          <a:prstGeom prst="roundRect">
            <a:avLst>
              <a:gd name="adj" fmla="val 2431"/>
            </a:avLst>
          </a:prstGeom>
          <a:solidFill>
            <a:srgbClr val="F2F5FC"/>
          </a:solidFill>
          <a:ln w="9525">
            <a:solidFill>
              <a:srgbClr val="DDE3F2"/>
            </a:solidFill>
            <a:prstDash val="solid"/>
          </a:ln>
          <a:effectLst>
            <a:outerShdw sx="100000" sy="100000" kx="0" ky="0" algn="bl" rotWithShape="0" blurRad="76200" dist="12700" dir="5400000">
              <a:srgbClr val="8899BB">
                <a:alpha val="1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9217152" y="1847088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C97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9217152" y="2121408"/>
            <a:ext cx="2121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12–24 months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9217152" y="2432304"/>
            <a:ext cx="212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Portfolio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9217152" y="2999232"/>
            <a:ext cx="212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0E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Multi-use-case rollout, jurisdiction packs as a subscription, shadow-call bias screening, a managed LLM-judge tier.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566928" y="4480560"/>
            <a:ext cx="11027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Pricing.  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E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subscription by governed interaction volume: $30k–150k ACV for an enterprise running 3–8 AI use cases. The buyer's comparison is not a cheaper tool — it is the compliance headcount reading traces by hand, plus the exposure of the failures nobody is reading.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37392" y="643737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3737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Mycroft.ai  ·  Business Proposal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457200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E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AND MITIGATIONS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76809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could go wrong, and what we do about it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66928" y="1609344"/>
            <a:ext cx="5385816" cy="1225296"/>
          </a:xfrm>
          <a:prstGeom prst="roundRect">
            <a:avLst>
              <a:gd name="adj" fmla="val 5224"/>
            </a:avLst>
          </a:prstGeom>
          <a:solidFill>
            <a:srgbClr val="F2F5FC"/>
          </a:solidFill>
          <a:ln w="9525">
            <a:solidFill>
              <a:srgbClr val="DDE3F2"/>
            </a:solidFill>
            <a:prstDash val="solid"/>
          </a:ln>
          <a:effectLst>
            <a:outerShdw sx="100000" sy="100000" kx="0" ky="0" algn="bl" rotWithShape="0" blurRad="76200" dist="12700" dir="5400000">
              <a:srgbClr val="8899BB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22960" y="1773936"/>
            <a:ext cx="4873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Detection commoditises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066544"/>
            <a:ext cx="4873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C97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providers ship guardrails free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322576"/>
            <a:ext cx="4873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 not sell detection. Detectors are pluggable; the contract, the lifecycle and the audit chain are the product.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08776" y="1609344"/>
            <a:ext cx="5385816" cy="1225296"/>
          </a:xfrm>
          <a:prstGeom prst="roundRect">
            <a:avLst>
              <a:gd name="adj" fmla="val 5224"/>
            </a:avLst>
          </a:prstGeom>
          <a:solidFill>
            <a:srgbClr val="F2F5FC"/>
          </a:solidFill>
          <a:ln w="9525">
            <a:solidFill>
              <a:srgbClr val="DDE3F2"/>
            </a:solidFill>
            <a:prstDash val="solid"/>
          </a:ln>
          <a:effectLst>
            <a:outerShdw sx="100000" sy="100000" kx="0" ky="0" algn="bl" rotWithShape="0" blurRad="76200" dist="12700" dir="5400000">
              <a:srgbClr val="8899BB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464808" y="1773936"/>
            <a:ext cx="4873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 fatigue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464808" y="2066544"/>
            <a:ext cx="4873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C97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Over-flagging is how these tools die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464808" y="2322576"/>
            <a:ext cx="4873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trade-off is measured per threshold before a contract is signed, and review load is reported with every change.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3017520"/>
            <a:ext cx="5385816" cy="1225296"/>
          </a:xfrm>
          <a:prstGeom prst="roundRect">
            <a:avLst>
              <a:gd name="adj" fmla="val 5224"/>
            </a:avLst>
          </a:prstGeom>
          <a:solidFill>
            <a:srgbClr val="F2F5FC"/>
          </a:solidFill>
          <a:ln w="9525">
            <a:solidFill>
              <a:srgbClr val="DDE3F2"/>
            </a:solidFill>
            <a:prstDash val="solid"/>
          </a:ln>
          <a:effectLst>
            <a:outerShdw sx="100000" sy="100000" kx="0" ky="0" algn="bl" rotWithShape="0" blurRad="76200" dist="12700" dir="5400000">
              <a:srgbClr val="8899BB">
                <a:alpha val="1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22960" y="3182112"/>
            <a:ext cx="4873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bias screen is over-read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3474720"/>
            <a:ext cx="4873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C97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'The tool said it's biased' is a headline risk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3730752"/>
            <a:ext cx="4873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Framed as a screening signal for human review everywhere it appears — in code, in the UI and in the report.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08776" y="3017520"/>
            <a:ext cx="5385816" cy="1225296"/>
          </a:xfrm>
          <a:prstGeom prst="roundRect">
            <a:avLst>
              <a:gd name="adj" fmla="val 5224"/>
            </a:avLst>
          </a:prstGeom>
          <a:solidFill>
            <a:srgbClr val="F2F5FC"/>
          </a:solidFill>
          <a:ln w="9525">
            <a:solidFill>
              <a:srgbClr val="DDE3F2"/>
            </a:solidFill>
            <a:prstDash val="solid"/>
          </a:ln>
          <a:effectLst>
            <a:outerShdw sx="100000" sy="100000" kx="0" ky="0" algn="bl" rotWithShape="0" blurRad="76200" dist="12700" dir="5400000">
              <a:srgbClr val="8899BB">
                <a:alpha val="1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464808" y="3182112"/>
            <a:ext cx="4873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judge misses open fabrication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464808" y="3474720"/>
            <a:ext cx="4873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C97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Measured: 0.75 recall on the holdout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464808" y="3730752"/>
            <a:ext cx="4873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Reported, not hidden. The LLM-judge adapter is built, and this class is what it is for.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66928" y="4425696"/>
            <a:ext cx="5385816" cy="1225296"/>
          </a:xfrm>
          <a:prstGeom prst="roundRect">
            <a:avLst>
              <a:gd name="adj" fmla="val 5224"/>
            </a:avLst>
          </a:prstGeom>
          <a:solidFill>
            <a:srgbClr val="F2F5FC"/>
          </a:solidFill>
          <a:ln w="9525">
            <a:solidFill>
              <a:srgbClr val="DDE3F2"/>
            </a:solidFill>
            <a:prstDash val="solid"/>
          </a:ln>
          <a:effectLst>
            <a:outerShdw sx="100000" sy="100000" kx="0" ky="0" algn="bl" rotWithShape="0" blurRad="76200" dist="12700" dir="5400000">
              <a:srgbClr val="8899BB">
                <a:alpha val="18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822960" y="4590288"/>
            <a:ext cx="4873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figures are challenged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4882896"/>
            <a:ext cx="4873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C97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are assumptions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" y="5138928"/>
            <a:ext cx="4873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input is in one file, printed beside every figure, and changeable by the buyer.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208776" y="4425696"/>
            <a:ext cx="5385816" cy="1225296"/>
          </a:xfrm>
          <a:prstGeom prst="roundRect">
            <a:avLst>
              <a:gd name="adj" fmla="val 5224"/>
            </a:avLst>
          </a:prstGeom>
          <a:solidFill>
            <a:srgbClr val="F2F5FC"/>
          </a:solidFill>
          <a:ln w="9525">
            <a:solidFill>
              <a:srgbClr val="DDE3F2"/>
            </a:solidFill>
            <a:prstDash val="solid"/>
          </a:ln>
          <a:effectLst>
            <a:outerShdw sx="100000" sy="100000" kx="0" ky="0" algn="bl" rotWithShape="0" blurRad="76200" dist="12700" dir="5400000">
              <a:srgbClr val="8899BB">
                <a:alpha val="18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6464808" y="4590288"/>
            <a:ext cx="4873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become a single point of failure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464808" y="4882896"/>
            <a:ext cx="4873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C97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control plane that fails closed takes production down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6464808" y="5138928"/>
            <a:ext cx="4873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Lane fails open with an audit record; the judge falls back to the offline path rather than erroring.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2011680"/>
            <a:ext cx="7863840" cy="7863840"/>
          </a:xfrm>
          <a:prstGeom prst="roundRect">
            <a:avLst>
              <a:gd name="adj" fmla="val 5814"/>
            </a:avLst>
          </a:prstGeom>
          <a:solidFill>
            <a:srgbClr val="1E2761">
              <a:alpha val="34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2148840"/>
            <a:ext cx="10424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6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 every AI failure into a better control —</a:t>
            </a:r>
            <a:endParaRPr lang="en-US" sz="38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be able to prove it held.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3931920"/>
            <a:ext cx="8778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can flag a PII leak. Almost nobody turns forty of them into one owned, priced defect, carries a human's decision into a versioned contract, and then proves with a regression run that the fix worked — and tells you what it cost.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566928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FB2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github.com/omchaudhar/mycroft-ai   ·   bash run.sh   ·   no API key, no network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2026-09-02T07:01:06Z</dcterms:created>
  <dcterms:modified xsi:type="dcterms:W3CDTF">2026-09-02T07:01:06Z</dcterms:modified>
</cp:coreProperties>
</file>